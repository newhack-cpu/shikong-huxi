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5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(μg/m³)</c:v>
                </c:pt>
              </c:strCache>
            </c:strRef>
          </c:tx>
          <c:spPr>
            <a:solidFill>
              <a:srgbClr val="FF52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2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8D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8D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E67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LSTM
Baseline</c:v>
                  </c:pt>
                  <c:pt idx="1">
                    <c:v>仅小时
尺度</c:v>
                  </c:pt>
                  <c:pt idx="2">
                    <c:v>仅日级
尺度</c:v>
                  </c:pt>
                  <c:pt idx="3">
                    <c:v>仅六小时
尺度</c:v>
                  </c:pt>
                  <c:pt idx="4">
                    <c:v>去特征
注意力</c:v>
                  </c:pt>
                  <c:pt idx="5">
                    <c:v>去跨尺度
注意力</c:v>
                  </c:pt>
                  <c:pt idx="6">
                    <c:v>Full
MSTN v2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15.62</c:v>
                </c:pt>
                <c:pt idx="1">
                  <c:v>14.95</c:v>
                </c:pt>
                <c:pt idx="2">
                  <c:v>14.52</c:v>
                </c:pt>
                <c:pt idx="3">
                  <c:v>14.05</c:v>
                </c:pt>
                <c:pt idx="4">
                  <c:v>13.87</c:v>
                </c:pt>
                <c:pt idx="5">
                  <c:v>14.31</c:v>
                </c:pt>
                <c:pt idx="6">
                  <c:v>12.2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CF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CF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929"/>
        </a:solidFill>
        <a:ln>
          <a:noFill/>
        </a:ln>
        <a:effectLst/>
      </c:spPr>
    </c:plotArea>
    <c:plotVisOnly val="1"/>
    <c:dispBlanksAs val="span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时间注意力权重分布（输入24小时序列）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 Weight</c:v>
                </c:pt>
              </c:strCache>
            </c:strRef>
          </c:tx>
          <c:spPr>
            <a:solidFill>
              <a:srgbClr val="00C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t-24h</c:v>
                  </c:pt>
                  <c:pt idx="1">
                    <c:v>t-23h</c:v>
                  </c:pt>
                  <c:pt idx="2">
                    <c:v>t-22h</c:v>
                  </c:pt>
                  <c:pt idx="3">
                    <c:v>t-21h</c:v>
                  </c:pt>
                  <c:pt idx="4">
                    <c:v>t-20h</c:v>
                  </c:pt>
                  <c:pt idx="5">
                    <c:v>t-19h</c:v>
                  </c:pt>
                  <c:pt idx="6">
                    <c:v>t-18h</c:v>
                  </c:pt>
                  <c:pt idx="7">
                    <c:v>t-17h</c:v>
                  </c:pt>
                  <c:pt idx="8">
                    <c:v>t-16h</c:v>
                  </c:pt>
                  <c:pt idx="9">
                    <c:v>t-15h</c:v>
                  </c:pt>
                  <c:pt idx="10">
                    <c:v>t-14h</c:v>
                  </c:pt>
                  <c:pt idx="11">
                    <c:v>t-13h</c:v>
                  </c:pt>
                  <c:pt idx="12">
                    <c:v>t-12h</c:v>
                  </c:pt>
                  <c:pt idx="13">
                    <c:v>t-11h</c:v>
                  </c:pt>
                  <c:pt idx="14">
                    <c:v>t-10h</c:v>
                  </c:pt>
                  <c:pt idx="15">
                    <c:v>t-9h</c:v>
                  </c:pt>
                  <c:pt idx="16">
                    <c:v>t-8h</c:v>
                  </c:pt>
                  <c:pt idx="17">
                    <c:v>t-7h</c:v>
                  </c:pt>
                  <c:pt idx="18">
                    <c:v>t-6h</c:v>
                  </c:pt>
                  <c:pt idx="19">
                    <c:v>t-5h</c:v>
                  </c:pt>
                  <c:pt idx="20">
                    <c:v>t-4h</c:v>
                  </c:pt>
                  <c:pt idx="21">
                    <c:v>t-3h</c:v>
                  </c:pt>
                  <c:pt idx="22">
                    <c:v>t-2h</c:v>
                  </c:pt>
                  <c:pt idx="23">
                    <c:v>t-1h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0.085</c:v>
                </c:pt>
                <c:pt idx="1">
                  <c:v>0.02</c:v>
                </c:pt>
                <c:pt idx="2">
                  <c:v>0.012</c:v>
                </c:pt>
                <c:pt idx="3">
                  <c:v>0.008</c:v>
                </c:pt>
                <c:pt idx="4">
                  <c:v>0.008</c:v>
                </c:pt>
                <c:pt idx="5">
                  <c:v>0.01</c:v>
                </c:pt>
                <c:pt idx="6">
                  <c:v>0.012</c:v>
                </c:pt>
                <c:pt idx="7">
                  <c:v>0.015</c:v>
                </c:pt>
                <c:pt idx="8">
                  <c:v>0.018</c:v>
                </c:pt>
                <c:pt idx="9">
                  <c:v>0.022</c:v>
                </c:pt>
                <c:pt idx="10">
                  <c:v>0.025</c:v>
                </c:pt>
                <c:pt idx="11">
                  <c:v>0.025</c:v>
                </c:pt>
                <c:pt idx="12">
                  <c:v>0.025</c:v>
                </c:pt>
                <c:pt idx="13">
                  <c:v>0.03</c:v>
                </c:pt>
                <c:pt idx="14">
                  <c:v>0.035</c:v>
                </c:pt>
                <c:pt idx="15">
                  <c:v>0.038</c:v>
                </c:pt>
                <c:pt idx="16">
                  <c:v>0.04</c:v>
                </c:pt>
                <c:pt idx="17">
                  <c:v>0.045</c:v>
                </c:pt>
                <c:pt idx="18">
                  <c:v>0.05</c:v>
                </c:pt>
                <c:pt idx="19">
                  <c:v>0.055</c:v>
                </c:pt>
                <c:pt idx="20">
                  <c:v>0.06</c:v>
                </c:pt>
                <c:pt idx="21">
                  <c:v>0.08</c:v>
                </c:pt>
                <c:pt idx="22">
                  <c:v>0.11</c:v>
                </c:pt>
                <c:pt idx="23">
                  <c:v>0.165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CF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CF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929"/>
        </a:solidFill>
        <a:ln>
          <a:noFill/>
        </a:ln>
        <a:effectLst/>
      </c:spPr>
    </c:plotArea>
    <c:plotVisOnly val="1"/>
    <c:dispBlanksAs val="span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北京（基准）</c:v>
                </c:pt>
              </c:strCache>
            </c:strRef>
          </c:tx>
          <c:spPr>
            <a:solidFill>
              <a:srgbClr val="00C8F0"/>
            </a:solidFill>
            <a:ln w="25400" cap="flat">
              <a:solidFill>
                <a:srgbClr val="00C8F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C8F0"/>
              </a:solidFill>
              <a:ln w="9525" cap="flat">
                <a:solidFill>
                  <a:srgbClr val="00C8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完整性</c:v>
                  </c:pt>
                  <c:pt idx="1">
                    <c:v>时效性</c:v>
                  </c:pt>
                  <c:pt idx="2">
                    <c:v>一致性</c:v>
                  </c:pt>
                  <c:pt idx="3">
                    <c:v>稳定性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</c:v>
                </c:pt>
                <c:pt idx="1">
                  <c:v>0.95</c:v>
                </c:pt>
                <c:pt idx="2">
                  <c:v>0.85</c:v>
                </c:pt>
                <c:pt idx="3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石家庄（高质）</c:v>
                </c:pt>
              </c:strCache>
            </c:strRef>
          </c:tx>
          <c:spPr>
            <a:solidFill>
              <a:srgbClr val="00E676"/>
            </a:solidFill>
            <a:ln w="25400" cap="flat">
              <a:solidFill>
                <a:srgbClr val="00E67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E676"/>
              </a:solidFill>
              <a:ln w="9525" cap="flat">
                <a:solidFill>
                  <a:srgbClr val="00E6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完整性</c:v>
                  </c:pt>
                  <c:pt idx="1">
                    <c:v>时效性</c:v>
                  </c:pt>
                  <c:pt idx="2">
                    <c:v>一致性</c:v>
                  </c:pt>
                  <c:pt idx="3">
                    <c:v>稳定性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0.95</c:v>
                </c:pt>
                <c:pt idx="1">
                  <c:v>0.92</c:v>
                </c:pt>
                <c:pt idx="2">
                  <c:v>0.88</c:v>
                </c:pt>
                <c:pt idx="3">
                  <c:v>0.85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保定（缺失多）</c:v>
                </c:pt>
              </c:strCache>
            </c:strRef>
          </c:tx>
          <c:spPr>
            <a:solidFill>
              <a:srgbClr val="FF5252"/>
            </a:solidFill>
            <a:ln w="25400" cap="flat">
              <a:solidFill>
                <a:srgbClr val="FF5252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5252"/>
              </a:solidFill>
              <a:ln w="9525" cap="flat">
                <a:solidFill>
                  <a:srgbClr val="FF52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完整性</c:v>
                  </c:pt>
                  <c:pt idx="1">
                    <c:v>时效性</c:v>
                  </c:pt>
                  <c:pt idx="2">
                    <c:v>一致性</c:v>
                  </c:pt>
                  <c:pt idx="3">
                    <c:v>稳定性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</c:v>
                </c:pt>
                <c:pt idx="1">
                  <c:v>0.85</c:v>
                </c:pt>
                <c:pt idx="2">
                  <c:v>0.78</c:v>
                </c:pt>
                <c:pt idx="3">
                  <c:v>0.82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F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899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92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8CF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FF5252"/>
            </a:solidFill>
            <a:ln w="38100" cap="flat">
              <a:solidFill>
                <a:srgbClr val="FF52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252"/>
              </a:solidFill>
              <a:ln w="9525" cap="flat">
                <a:solidFill>
                  <a:srgbClr val="FF52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1h</c:v>
                  </c:pt>
                  <c:pt idx="1">
                    <c:v>6h</c:v>
                  </c:pt>
                  <c:pt idx="2">
                    <c:v>12h</c:v>
                  </c:pt>
                  <c:pt idx="3">
                    <c:v>24h</c:v>
                  </c:pt>
                  <c:pt idx="4">
                    <c:v>48h</c:v>
                  </c:pt>
                  <c:pt idx="5">
                    <c:v>72h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13.18</c:v>
                </c:pt>
                <c:pt idx="1">
                  <c:v>19.85</c:v>
                </c:pt>
                <c:pt idx="2">
                  <c:v>26.42</c:v>
                </c:pt>
                <c:pt idx="3">
                  <c:v>35.18</c:v>
                </c:pt>
                <c:pt idx="4">
                  <c:v>48.95</c:v>
                </c:pt>
                <c:pt idx="5">
                  <c:v>62.31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Pure LSTM</c:v>
                </c:pt>
              </c:strCache>
            </c:strRef>
          </c:tx>
          <c:spPr>
            <a:solidFill>
              <a:srgbClr val="FFB300"/>
            </a:solidFill>
            <a:ln w="38100" cap="flat">
              <a:solidFill>
                <a:srgbClr val="FFB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1h</c:v>
                  </c:pt>
                  <c:pt idx="1">
                    <c:v>6h</c:v>
                  </c:pt>
                  <c:pt idx="2">
                    <c:v>12h</c:v>
                  </c:pt>
                  <c:pt idx="3">
                    <c:v>24h</c:v>
                  </c:pt>
                  <c:pt idx="4">
                    <c:v>48h</c:v>
                  </c:pt>
                  <c:pt idx="5">
                    <c:v>72h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13.85</c:v>
                </c:pt>
                <c:pt idx="1">
                  <c:v>18.92</c:v>
                </c:pt>
                <c:pt idx="2">
                  <c:v>24.16</c:v>
                </c:pt>
                <c:pt idx="3">
                  <c:v>31.74</c:v>
                </c:pt>
                <c:pt idx="4">
                  <c:v>42.83</c:v>
                </c:pt>
                <c:pt idx="5">
                  <c:v>55.18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MSTN v2 (Ours)</c:v>
                </c:pt>
              </c:strCache>
            </c:strRef>
          </c:tx>
          <c:spPr>
            <a:solidFill>
              <a:srgbClr val="00E676"/>
            </a:solidFill>
            <a:ln w="38100" cap="flat">
              <a:solidFill>
                <a:srgbClr val="00E6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E676"/>
              </a:solidFill>
              <a:ln w="9525" cap="flat">
                <a:solidFill>
                  <a:srgbClr val="00E6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1h</c:v>
                  </c:pt>
                  <c:pt idx="1">
                    <c:v>6h</c:v>
                  </c:pt>
                  <c:pt idx="2">
                    <c:v>12h</c:v>
                  </c:pt>
                  <c:pt idx="3">
                    <c:v>24h</c:v>
                  </c:pt>
                  <c:pt idx="4">
                    <c:v>48h</c:v>
                  </c:pt>
                  <c:pt idx="5">
                    <c:v>72h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10.84</c:v>
                </c:pt>
                <c:pt idx="1">
                  <c:v>15.34</c:v>
                </c:pt>
                <c:pt idx="2">
                  <c:v>19.82</c:v>
                </c:pt>
                <c:pt idx="3">
                  <c:v>25.11</c:v>
                </c:pt>
                <c:pt idx="4">
                  <c:v>32.47</c:v>
                </c:pt>
                <c:pt idx="5">
                  <c:v>39.85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CF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CF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92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B8CF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工作量占比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使用占比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8F0"/>
              </a:solidFill>
              <a:effectLst/>
            </c:spPr>
          </c:dPt>
          <c:dPt>
            <c:idx val="1"/>
            <c:bubble3D val="0"/>
            <c:spPr>
              <a:solidFill>
                <a:srgbClr val="FFB3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A19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A19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参赛者原创 (75%)</c:v>
                </c:pt>
                <c:pt idx="1">
                  <c:v>AI 辅助 (25%)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8CF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9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第19届中国大学生计算机设计大赛 · 大数据实践赛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6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 空 呼 吸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Temporal-Spatial Breathing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基于多尺度时空融合网络的城市空气质量智能预测系统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4754880"/>
            <a:ext cx="173736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4800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MSTN v2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多尺度时空融合网络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4754880"/>
            <a:ext cx="173736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4800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原创呼吸健康指数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4754880"/>
            <a:ext cx="173736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800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全流程一键复现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环境与人类发展大数据  |  2026 年 4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00200"/>
            <a:ext cx="9418320" cy="5029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00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60320" y="1600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问题背景与研究动机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P3-4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240280"/>
            <a:ext cx="9418320" cy="5029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0320" y="2240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整体技术架构与创新点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P5-7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880360"/>
            <a:ext cx="9418320" cy="5029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880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60320" y="2880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核心创新：MSTN v2 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P8-10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520440"/>
            <a:ext cx="9418320" cy="5029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6032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原创特征：呼吸健康指数 BHI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P11-12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4160520"/>
            <a:ext cx="9418320" cy="5029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160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560320" y="4160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实验设置与对比结果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6112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P13-17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71600" y="4800600"/>
            <a:ext cx="9418320" cy="5029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800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560320" y="4800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应用场景与社会价值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0" y="4800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P18-20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71600" y="5440680"/>
            <a:ext cx="9418320" cy="5029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5440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560320" y="5440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工作量自评与展望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0" y="5440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P21-23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为什么要做这件事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时空预测的真实挑战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41148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0" dirty="0"/>
          </a:p>
        </p:txBody>
      </p:sp>
      <p:sp>
        <p:nvSpPr>
          <p:cNvPr id="8" name="Shape 6"/>
          <p:cNvSpPr/>
          <p:nvPr/>
        </p:nvSpPr>
        <p:spPr>
          <a:xfrm>
            <a:off x="1554480" y="3200400"/>
            <a:ext cx="1463040" cy="0"/>
          </a:xfrm>
          <a:prstGeom prst="line">
            <a:avLst/>
          </a:prstGeom>
          <a:noFill/>
          <a:ln w="25400">
            <a:solidFill>
              <a:srgbClr val="FF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时间尺度单一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LSTM/ARIMA 只能建模单一时间尺度，无法同时捕捉小时级波动与日级周期，重污染时段预测严重失准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657600" cy="41148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0" dirty="0"/>
          </a:p>
        </p:txBody>
      </p:sp>
      <p:sp>
        <p:nvSpPr>
          <p:cNvPr id="13" name="Shape 11"/>
          <p:cNvSpPr/>
          <p:nvPr/>
        </p:nvSpPr>
        <p:spPr>
          <a:xfrm>
            <a:off x="5394960" y="3200400"/>
            <a:ext cx="146304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空间关联缺失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单城市预测忽略大气污染物的跨区域传输效应，相邻城市突发污染对目标城市的影响完全无法预报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657600" cy="41148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0" dirty="0"/>
          </a:p>
        </p:txBody>
      </p:sp>
      <p:sp>
        <p:nvSpPr>
          <p:cNvPr id="18" name="Shape 16"/>
          <p:cNvSpPr/>
          <p:nvPr/>
        </p:nvSpPr>
        <p:spPr>
          <a:xfrm>
            <a:off x="9235440" y="3200400"/>
            <a:ext cx="1463040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结果不可解释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4023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深度学习黑箱无法解释「为什么模型这样预测」，难以服务政府精准决策与公众理解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我们的目标：用统一的端到端模型，同时解决时间尺度、空间关联、可解释性三大挑战。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数据规模 — 大数据基底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Beijing PM2.5 + 多站点扩展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743200" cy="13716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137160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3736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43,824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24460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原始小时级记录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13716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54864" cy="13716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3736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年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24460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 (2010-2014)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743200" cy="13716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54864" cy="13716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3736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46520" y="24460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工程后特征维度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554480"/>
            <a:ext cx="2468880" cy="13716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54480"/>
            <a:ext cx="54864" cy="137160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173736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8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95.3%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372600" y="24460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数据保留率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原始下载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36576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0" y="3657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时间戳重构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36576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缺失值插补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36576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49440" y="3657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异常值过滤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98280" y="3657600"/>
            <a:ext cx="9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144000" y="365760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特征工程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数据来源（合规、可追溯）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138928"/>
            <a:ext cx="182880" cy="182880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074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  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 PM2.5 公开数据集（2010-2014），原始 43,824 条小时级记录，包含 PM2.5、温度、气压、风速、风向、露点、降雪/降雨时长等 8 类观测变量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550408"/>
            <a:ext cx="182880" cy="182880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OpenAQ API  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全球开放空气质量平台，作为多城市扩展的真实数据通道（备用）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961888"/>
            <a:ext cx="182880" cy="182880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897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GSOD  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全球地面气象观测，用于补全多城市气象维度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整体技术架构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四层分层架构 + 一键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371600" cy="91440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55448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57800" y="155448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数据清洗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155448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特征工程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011680" y="274320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/ RF / XGBoost / LightGBM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274320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MSTN v2 (核心创新)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274320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多步预测 (1h/6h/24h)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1371600" cy="9144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31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011680" y="393192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真·消融实验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57800" y="393192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基线对比 (含SOTA)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393192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论文级图表生成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120640"/>
            <a:ext cx="1371600" cy="91440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120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应用层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011680" y="512064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5120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57800" y="512064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5120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张交互图表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5120640"/>
            <a:ext cx="3108960" cy="914400"/>
          </a:xfrm>
          <a:prstGeom prst="rect">
            <a:avLst/>
          </a:prstGeom>
          <a:solidFill>
            <a:srgbClr val="132F4C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5120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边缘部署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个 Python 模块 · ~6,200 行代码 · 单条命令 `python run.py` 一键执行全部 8 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四大创新点速览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at a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MSTN v2 多尺度时空融合网络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三尺度因果膨胀 TCN（dilation=1/4/8 对应小时/六小时/日级周期）+ 跨尺度自注意力 + 特征相关注意力 + 分位数预测头，支持点预测 + 不确定性区间，全程因果约束杜绝数据泄漏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22860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 呼吸健康指数（原创）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514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首次将 PM2.5 浓度、气象不适度、暴露累积三大因子按 GB 3095-2012 与 WHO 2021 标准融合，输出可解释的 0-100 分制健康指数，并区分一般/敏感人群两档防护建议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160520"/>
            <a:ext cx="640080" cy="64008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多源数据质量评估与融合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892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完整性 / 时效性 / 一致性 / 稳定性四维度评估 + Softmax 自适应权重分配 + Isolation Forest 异常城市检测，跨城市知识迁移而无需邻接矩阵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5486400" cy="22860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160520"/>
            <a:ext cx="640080" cy="640080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全流程自动化 Pipeline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892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从数据下载 → 特征工程 → 模型训练 → 消融对比 → 论文图表 → Web 部署，一条命令贯通；每一步产生可验证的中间产物，支持任意环节独立调试与替换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MSTN v2 架构详解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Spatio-Temporal Network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926080"/>
            <a:ext cx="1097280" cy="731520"/>
          </a:xfrm>
          <a:prstGeom prst="roundRect">
            <a:avLst>
              <a:gd name="adj" fmla="val 6250"/>
            </a:avLst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[B,24,65]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971800"/>
            <a:ext cx="914400" cy="64008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64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645920"/>
            <a:ext cx="1280160" cy="77724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6459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TCN d=1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(小时尺度)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291840"/>
            <a:ext cx="365760" cy="-1234440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926080"/>
            <a:ext cx="1280160" cy="7772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2926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TCN d=4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(六小时尺度)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3291840"/>
            <a:ext cx="365760" cy="45720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4206240"/>
            <a:ext cx="1280160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4206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TCN d=8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(日级尺度)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3291840"/>
            <a:ext cx="365760" cy="1325880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43200"/>
            <a:ext cx="1463040" cy="1097280"/>
          </a:xfrm>
          <a:prstGeom prst="roundRect">
            <a:avLst>
              <a:gd name="adj" fmla="val 4167"/>
            </a:avLst>
          </a:prstGeom>
          <a:solidFill>
            <a:srgbClr val="132F4C"/>
          </a:solidFill>
          <a:ln w="25400">
            <a:solidFill>
              <a:srgbClr val="FF52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(★ 创新)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2029968"/>
            <a:ext cx="365760" cy="1261872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310128"/>
            <a:ext cx="365760" cy="-18288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4590288"/>
            <a:ext cx="365760" cy="-1298448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2743200"/>
            <a:ext cx="1554480" cy="1097280"/>
          </a:xfrm>
          <a:prstGeom prst="roundRect">
            <a:avLst>
              <a:gd name="adj" fmla="val 4167"/>
            </a:avLst>
          </a:prstGeom>
          <a:solidFill>
            <a:srgbClr val="132F4C"/>
          </a:solidFill>
          <a:ln w="25400">
            <a:solidFill>
              <a:srgbClr val="FF5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7432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(★ 命名诚实)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291840"/>
            <a:ext cx="365760" cy="0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2788920"/>
            <a:ext cx="1371600" cy="10058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291840"/>
            <a:ext cx="365760" cy="0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49840" y="2377440"/>
            <a:ext cx="1554480" cy="457200"/>
          </a:xfrm>
          <a:prstGeom prst="rect">
            <a:avLst/>
          </a:prstGeom>
          <a:solidFill>
            <a:srgbClr val="132F4C"/>
          </a:solidFill>
          <a:ln w="12700">
            <a:solidFill>
              <a:srgbClr val="B8CF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q₀₅ (下界)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784080" y="3291840"/>
            <a:ext cx="365760" cy="-685800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49840" y="3063240"/>
            <a:ext cx="1554480" cy="4572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q₅₀ (点预测)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784080" y="3291840"/>
            <a:ext cx="365760" cy="0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49840" y="3749040"/>
            <a:ext cx="1554480" cy="457200"/>
          </a:xfrm>
          <a:prstGeom prst="rect">
            <a:avLst/>
          </a:prstGeom>
          <a:solidFill>
            <a:srgbClr val="132F4C"/>
          </a:solidFill>
          <a:ln w="12700">
            <a:solidFill>
              <a:srgbClr val="B8CF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4984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q₉₅ (上界)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784080" y="3291840"/>
            <a:ext cx="365760" cy="685800"/>
          </a:xfrm>
          <a:prstGeom prst="line">
            <a:avLst/>
          </a:prstGeom>
          <a:noFill/>
          <a:ln w="12700">
            <a:solidFill>
              <a:srgbClr val="7899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关键设计：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因果膨胀卷积 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严格 t≤T 约束，杜绝数据泄漏；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三尺度 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物理含义清晰；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分位数预测 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输出不确定性区间，工程化部署友好；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参数量 ~80K 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远低于 100 万参数限制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消融实验：每个模块都有效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(3 runs, mean ± std)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1323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各模块贡献度排序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32320" y="2011680"/>
            <a:ext cx="4572000" cy="640080"/>
          </a:xfrm>
          <a:prstGeom prst="rect">
            <a:avLst/>
          </a:prstGeom>
          <a:solidFill>
            <a:srgbClr val="132F4C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78040" y="2011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跨尺度注意力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3272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ΔR² +0.0287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0" y="2788920"/>
            <a:ext cx="4572000" cy="640080"/>
          </a:xfrm>
          <a:prstGeom prst="rect">
            <a:avLst/>
          </a:prstGeom>
          <a:solidFill>
            <a:srgbClr val="132F4C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78040" y="2788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多尺度建模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33272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ΔR² +0.0250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32320" y="3566160"/>
            <a:ext cx="4572000" cy="640080"/>
          </a:xfrm>
          <a:prstGeom prst="rect">
            <a:avLst/>
          </a:prstGeom>
          <a:solidFill>
            <a:srgbClr val="132F4C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3566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77240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特征相关注意力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33272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28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ΔR² +0.0214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32320" y="4572000"/>
            <a:ext cx="4572000" cy="1097280"/>
          </a:xfrm>
          <a:prstGeom prst="rect">
            <a:avLst/>
          </a:prstGeom>
          <a:solidFill>
            <a:srgbClr val="132F4C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69480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关键结论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269480" y="4983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MSTN v2 比纯 LSTM 基线 R² 提升 0.0455（+5.0%）；三大模块缺一不可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注：以上为初版结果（v1）；v2 真·消融实验数据将在论文表 3 中更新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模型可解释性 - 注意力可视化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58952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模型自动学到的物理先验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89520" y="2148840"/>
            <a:ext cx="4389120" cy="6858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2148840"/>
            <a:ext cx="1188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t-1h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2396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权重最高（峰值）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近邻时刻是最强先验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2926080"/>
            <a:ext cx="4389120" cy="6858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2926080"/>
            <a:ext cx="1188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t-2h~t-3h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2396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次高权重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短期动量持续效应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89520" y="3703320"/>
            <a:ext cx="4389120" cy="6858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3703320"/>
            <a:ext cx="1188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t-22h~t-24h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23960" y="3703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次峰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日周期：前一天同时刻具有强相似性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589520" y="4480560"/>
            <a:ext cx="4389120" cy="6858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4480560"/>
            <a:ext cx="1188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t-12h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823960" y="4480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局部低谷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半天前与当前相位反向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模型未被告知任何「日周期」先验，但通过自注意力机制自动学到了这一物理规律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BHI 呼吸健康指数公式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 · 标准化 · 数据驱动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11247120" cy="1051560"/>
          </a:xfrm>
          <a:prstGeom prst="rect">
            <a:avLst/>
          </a:prstGeom>
          <a:solidFill>
            <a:srgbClr val="132F4C"/>
          </a:solidFill>
          <a:ln w="254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BHI = </a:t>
            </a:r>
            <a:pPr algn="ctr" indent="0" marL="0">
              <a:buNone/>
            </a:pPr>
            <a:r>
              <a:rPr lang="en-US" sz="32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</a:t>
            </a:r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IPM + </a:t>
            </a:r>
            <a:pPr algn="ctr" indent="0" marL="0">
              <a:buNone/>
            </a:pPr>
            <a:r>
              <a:rPr lang="en-US" sz="3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 </a:t>
            </a:r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IT + </a:t>
            </a:r>
            <a:pPr algn="ctr" indent="0" marL="0">
              <a:buNone/>
            </a:pPr>
            <a:r>
              <a:rPr lang="en-US" sz="32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 </a:t>
            </a:r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IE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566160" cy="2834640"/>
          </a:xfrm>
          <a:prstGeom prst="rect">
            <a:avLst/>
          </a:prstGeom>
          <a:solidFill>
            <a:srgbClr val="132F4C"/>
          </a:solidFill>
          <a:ln w="25400">
            <a:solidFill>
              <a:srgbClr val="00C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IPM · 污染强度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371600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3095-2012 IAQI 分段非线性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国家空气质量标准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846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IAQI → 0-40分；100-200 → 40-70分；200+ → 70-100分（饱和）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834640"/>
            <a:ext cx="3566160" cy="2834640"/>
          </a:xfrm>
          <a:prstGeom prst="rect">
            <a:avLst/>
          </a:prstGeom>
          <a:solidFill>
            <a:srgbClr val="132F4C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· 气象不适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80560" y="3383280"/>
            <a:ext cx="1371600" cy="0"/>
          </a:xfrm>
          <a:prstGeom prst="line">
            <a:avLst/>
          </a:prstGeom>
          <a:noFill/>
          <a:ln w="254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ASHRAE 55 + 风寒指数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ASHRAE 55-2020 标准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4846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最适温度 24°C ± 2，叠加湿度修正与冬季风寒效应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834640"/>
            <a:ext cx="3566160" cy="2834640"/>
          </a:xfrm>
          <a:prstGeom prst="rect">
            <a:avLst/>
          </a:prstGeom>
          <a:solidFill>
            <a:srgbClr val="132F4C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· 暴露累积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21040" y="3383280"/>
            <a:ext cx="137160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532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24h均值 / WHO 限值倍率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7532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532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2021 全球指南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4846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24h PM2.5 限值 = 15μg/m³，比值越大累积健康风险越高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0.55 / 0.15 / 0.30 来自文献相关性分析（见报告附录），非拍脑袋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BHI 五级分级与个性化建议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Health Guidance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 范围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554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1554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554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防护建议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1247120" cy="7315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91440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 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0–20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9768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2057400"/>
            <a:ext cx="6035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空气清洁，适宜户外有氧运动与深呼吸练习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34640"/>
            <a:ext cx="91440" cy="731520"/>
          </a:xfrm>
          <a:prstGeom prst="rect">
            <a:avLst/>
          </a:prstGeom>
          <a:solidFill>
            <a:srgbClr val="9CCC6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34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CC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 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283464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20–40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283464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97680" y="283464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2834640"/>
            <a:ext cx="6035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正常户外活动，敏感人群适量减少剧烈运动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11247120" cy="7315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11880"/>
            <a:ext cx="91440" cy="7315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11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 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40–60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2608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29768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0" y="3611880"/>
            <a:ext cx="6035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建议佩戴口罩，减少户外逗留，儿童老人室内为主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389120"/>
            <a:ext cx="91440" cy="73152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389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 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438912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60–80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926080" y="438912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😷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297680" y="438912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较差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669280" y="4389120"/>
            <a:ext cx="6035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请戴 N95 口罩，避免户外活动，开启空气净化器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166360"/>
            <a:ext cx="11247120" cy="73152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166360"/>
            <a:ext cx="91440" cy="73152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166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 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554480" y="516636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80–100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926080" y="516636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297680" y="516636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危险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669280" y="5166360"/>
            <a:ext cx="6035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严重污染！请留在室内，关闭门窗，如不适请就医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敏感人群（儿童、老人、慢性呼吸道疾病患者）BHI 阈值降低 18%，等级判定更严格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多源数据质量评估与融合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Multi-Source Fusion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数据质量四维评估（雷达图）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92024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67512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自适应权重学习流程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5120" y="2057400"/>
            <a:ext cx="548640" cy="548640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四维质量打分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完整性 0.3 + 时效性 0.2 + 一致性 0.3 + 稳定性 0.2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2926080"/>
            <a:ext cx="548640" cy="548640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0" y="2834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归一化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高质量城市自动获得更高融合权重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3794760"/>
            <a:ext cx="548640" cy="548640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5200" y="3703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异常检测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contamination=0.2，自动剔除异常城市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75120" y="4663440"/>
            <a:ext cx="548640" cy="548640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15200" y="4572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城市相似度排序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描述统计相似度 → 跨城市迁移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实验设置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566160" cy="4572000"/>
          </a:xfrm>
          <a:prstGeom prst="rect">
            <a:avLst/>
          </a:prstGeom>
          <a:solidFill>
            <a:srgbClr val="132F4C"/>
          </a:solidFill>
          <a:ln w="254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数据切分（70/15/15）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371600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14600"/>
            <a:ext cx="164592" cy="164592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23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训练集 70%（约 29,229 条）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164592" cy="164592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验证集 15%（约 6,263 条）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794760"/>
            <a:ext cx="164592" cy="164592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测试集 15%（约 6,265 条）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434840"/>
            <a:ext cx="164592" cy="164592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严格按时间顺序，无随机切分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074920"/>
            <a:ext cx="164592" cy="164592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983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杜绝时序数据泄漏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554480"/>
            <a:ext cx="3566160" cy="4572000"/>
          </a:xfrm>
          <a:prstGeom prst="rect">
            <a:avLst/>
          </a:prstGeom>
          <a:solidFill>
            <a:srgbClr val="132F4C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评估指标（4 项）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80560" y="2194560"/>
            <a:ext cx="1371600" cy="0"/>
          </a:xfrm>
          <a:prstGeom prst="line">
            <a:avLst/>
          </a:prstGeom>
          <a:noFill/>
          <a:ln w="25400">
            <a:solidFill>
              <a:srgbClr val="00E67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2514600"/>
            <a:ext cx="164592" cy="164592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23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MAE（平均绝对误差，μg/m³）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154680"/>
            <a:ext cx="164592" cy="164592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RMSE（均方根误差）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3794760"/>
            <a:ext cx="164592" cy="164592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R²（决定系数）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4434840"/>
            <a:ext cx="164592" cy="164592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MAPE（平均绝对百分比误差）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26280" y="5074920"/>
            <a:ext cx="164592" cy="164592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4983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Pinball Loss（分位数回归用）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1554480"/>
            <a:ext cx="3566160" cy="4572000"/>
          </a:xfrm>
          <a:prstGeom prst="rect">
            <a:avLst/>
          </a:prstGeom>
          <a:solidFill>
            <a:srgbClr val="132F4C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对比方法（5+ 模型）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21040" y="2194560"/>
            <a:ext cx="137160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2514600"/>
            <a:ext cx="164592" cy="16459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36" name="Text 34"/>
          <p:cNvSpPr/>
          <p:nvPr/>
        </p:nvSpPr>
        <p:spPr>
          <a:xfrm>
            <a:off x="8641080" y="2423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ARIMA(5,1,0) ─ 经典时序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66760" y="3154680"/>
            <a:ext cx="164592" cy="16459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SVR(rbf) ─ 核方法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66760" y="3794760"/>
            <a:ext cx="164592" cy="16459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0" name="Text 38"/>
          <p:cNvSpPr/>
          <p:nvPr/>
        </p:nvSpPr>
        <p:spPr>
          <a:xfrm>
            <a:off x="864108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─ 梯度树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66760" y="4434840"/>
            <a:ext cx="164592" cy="16459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2" name="Text 40"/>
          <p:cNvSpPr/>
          <p:nvPr/>
        </p:nvSpPr>
        <p:spPr>
          <a:xfrm>
            <a:off x="864108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LSTM ─ 深度学习基线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66760" y="5074920"/>
            <a:ext cx="164592" cy="16459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4" name="Text 42"/>
          <p:cNvSpPr/>
          <p:nvPr/>
        </p:nvSpPr>
        <p:spPr>
          <a:xfrm>
            <a:off x="8641080" y="4983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MSTN v2（本文方法）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基线对比实验结果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ahead PM2.5 Forecasting on Beijing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463040"/>
                <a:gridCol w="1463040"/>
                <a:gridCol w="1554480"/>
                <a:gridCol w="146304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 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 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MAPE% 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ARIMA(5,1,0)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21.45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29.83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0.4521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38.7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 (rbf)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18.92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25.41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0.5634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32.1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17.83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23.56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0.6128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29.5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14.27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19.84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0.7423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23.8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~50K trees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13.51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18.76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0.7689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~200 trees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13.18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18.21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0.7821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21.7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~200 trees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13.85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19.02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0.7634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F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MSTN 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16.43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0.9488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19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MSTN v2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10.84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15.21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132F4C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关键观察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ARIMA 在多变量非平稳数据上失效；</a:t>
            </a:r>
            <a:pPr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去掉强lag特征后，LightGBM 与 LSTM 可比；</a:t>
            </a:r>
            <a:pPr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MSTN v2 在 MAE/RMSE/MAPE 三项指标上均优于所有基线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多步预测：MSTN v2 真正的优势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Forecasting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64592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58952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 MSTN v2 在长期预测上优势更大？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89520" y="2148840"/>
            <a:ext cx="438912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2148840"/>
            <a:ext cx="73152" cy="7772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21488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三尺度建模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d=8 直接捕捉日级周期，长期预测稳健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3017520"/>
            <a:ext cx="438912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3017520"/>
            <a:ext cx="73152" cy="7772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3017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因果膨胀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感受野指数级扩大，覆盖更长上下文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89520" y="3886200"/>
            <a:ext cx="438912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0" y="3886200"/>
            <a:ext cx="73152" cy="77724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3886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梯度树滑落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特征对 24h+ 预测失效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89520" y="4754880"/>
            <a:ext cx="438912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89520" y="4754880"/>
            <a:ext cx="73152" cy="77724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0" y="4754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LSTM 衰减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长序列下梯度消失，记忆能力下降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MSTN v2 在 72h 预测上，MAE 比 LightGBM 低 36%，体现真正的工程价值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性能需求达成情况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Compliance Check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1247120" cy="38404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性能指标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554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需求阈值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554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15544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1554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预测精度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(1h)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10 μg/m³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1965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10.84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接近达标，6h+ 预测显著优于基线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预测精度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(1h)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15 μg/m³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15.21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2104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略超 0.21；6h 内全达标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预测精度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(1h)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0.85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2104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去除泄漏特征后真实值，更具说服力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训练性能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2024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轮内收敛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3192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需达成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60-70 轮早停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2104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+ Early Stop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977640"/>
            <a:ext cx="1124712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训练性能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202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单轮训练时间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3192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30s (CPU)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60720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18s (CPU)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2104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3060 GPU 下 &lt; 3s/轮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工程性能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920240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批次大小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931920" y="4480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64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760720" y="4480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1520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2104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batch_size=64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983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工程性能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920240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模型参数量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931920" y="4983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100 万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760720" y="4983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约 80K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315200" y="4983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21040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仅 12K，v2 80K，远低上限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486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92024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注意力可视化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931920" y="5486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支持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760720" y="5486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315200" y="5486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21040" y="5486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时间步 + 跨尺度 + 特征三层注意力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应用场景一：政府精准预警决策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Decision Support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智慧环保决策舱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468880" cy="91440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未来 24h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趋势预报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377440"/>
            <a:ext cx="2468880" cy="914400"/>
          </a:xfrm>
          <a:prstGeom prst="rect">
            <a:avLst/>
          </a:prstGeom>
          <a:solidFill>
            <a:srgbClr val="0A1929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+35%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重污染概率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2468880" cy="914400"/>
          </a:xfrm>
          <a:prstGeom prst="rect">
            <a:avLst/>
          </a:prstGeom>
          <a:solidFill>
            <a:srgbClr val="0A1929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城联防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区域协同响应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383280"/>
            <a:ext cx="2468880" cy="914400"/>
          </a:xfrm>
          <a:prstGeom prst="rect">
            <a:avLst/>
          </a:prstGeom>
          <a:solidFill>
            <a:srgbClr val="0A1929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12h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预警提前期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不确定性区间 q05-q95，让决策者一眼看到风险范围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减少不必要的全城限行，提高响应精准度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相对传统 AQI 预警的差异化价值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2286000"/>
            <a:ext cx="274320" cy="27432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194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时空多步预测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1-72 小时预报，传统 AQI 仅当前快照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74320" cy="27432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926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不确定性量化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q05/q95 置信区间，支持风险决策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749040"/>
            <a:ext cx="274320" cy="27432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36576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可解释注意力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决策者可追溯模型为何判断「明天会有重污染」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4480560"/>
            <a:ext cx="274320" cy="27432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43891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跨城市联动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多源融合实时反映周边城市污染传输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5212080"/>
            <a:ext cx="274320" cy="27432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51206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 健康转化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从「污染浓度」到「健康影响」的直接映射，便于政策沟通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应用场景二：公众健康指引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Health Guidance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566160" cy="4572000"/>
          </a:xfrm>
          <a:prstGeom prst="rect">
            <a:avLst/>
          </a:prstGeom>
          <a:solidFill>
            <a:srgbClr val="132F4C"/>
          </a:solidFill>
          <a:ln w="254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晨跑爱好者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明早能跑步吗？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2651760" cy="0"/>
          </a:xfrm>
          <a:prstGeom prst="line">
            <a:avLst/>
          </a:prstGeom>
          <a:noFill/>
          <a:ln w="12700">
            <a:solidFill>
              <a:srgbClr val="00C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不建议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 预测明早 6:00 = 68 (较差)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建议改为室内运动；如必须户外，戴 N95 + 缩短至 30 分钟以内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554480"/>
            <a:ext cx="3566160" cy="4572000"/>
          </a:xfrm>
          <a:prstGeom prst="rect">
            <a:avLst/>
          </a:prstGeom>
          <a:solidFill>
            <a:srgbClr val="132F4C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29768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学龄儿童家长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768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孩子上下学路上安全吗？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265176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加强防护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429768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敏感人群 BHI 阈值降低 18%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上学时段（7-8h）BHI=58 → 「敏感人群一般」级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建议戴 N95，缩短户外时间，回家后做湿润鼻腔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554480"/>
            <a:ext cx="3566160" cy="4572000"/>
          </a:xfrm>
          <a:prstGeom prst="rect">
            <a:avLst/>
          </a:prstGeom>
          <a:solidFill>
            <a:srgbClr val="132F4C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慢性呼吸病患者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今日是否要复诊？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95360" y="3611880"/>
            <a:ext cx="2651760" cy="0"/>
          </a:xfrm>
          <a:prstGeom prst="line">
            <a:avLst/>
          </a:prstGeom>
          <a:noFill/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建议提前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21040" y="429768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 48h BHI 持续 &gt; 70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累积暴露 IE 分量 = 92（高）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建议提前复诊取药，避免重污染期就诊高峰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 BHI 真正打动用户的地方：从「73 μg/m³」到「跑步还是不跑步」，给出可执行答案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Streamlit Web 应用 - 6 大功能模块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566160" cy="2286000"/>
          </a:xfrm>
          <a:prstGeom prst="rect">
            <a:avLst/>
          </a:prstGeom>
          <a:solidFill>
            <a:srgbClr val="132F4C"/>
          </a:solidFill>
          <a:ln w="25400">
            <a:solidFill>
              <a:srgbClr val="00C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566160" cy="457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实时监控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圆形仪表盘 + 时序图 + 当前指标卡片，掌握当下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66160" cy="2286000"/>
          </a:xfrm>
          <a:prstGeom prst="rect">
            <a:avLst/>
          </a:prstGeom>
          <a:solidFill>
            <a:srgbClr val="132F4C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554480"/>
            <a:ext cx="3566160" cy="457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呼吸健康 BHI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2423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 综合仪表 + 5 级分布饼图 + 个性化建议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566160" cy="2286000"/>
          </a:xfrm>
          <a:prstGeom prst="rect">
            <a:avLst/>
          </a:prstGeom>
          <a:solidFill>
            <a:srgbClr val="132F4C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554480"/>
            <a:ext cx="3566160" cy="45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智能预测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423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多模型切换、1-72h 预测、置信区间可视化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3566160" cy="2286000"/>
          </a:xfrm>
          <a:prstGeom prst="rect">
            <a:avLst/>
          </a:prstGeom>
          <a:solidFill>
            <a:srgbClr val="132F4C"/>
          </a:solidFill>
          <a:ln w="25400">
            <a:solidFill>
              <a:srgbClr val="FF52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23360"/>
            <a:ext cx="3566160" cy="4572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深度分析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特征重要性 / 相关性矩阵 / 月度趋势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4023360"/>
            <a:ext cx="3566160" cy="2286000"/>
          </a:xfrm>
          <a:prstGeom prst="rect">
            <a:avLst/>
          </a:prstGeom>
          <a:solidFill>
            <a:srgbClr val="132F4C"/>
          </a:solidFill>
          <a:ln w="25400">
            <a:solidFill>
              <a:srgbClr val="0288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4023360"/>
            <a:ext cx="3566160" cy="457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0352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城市对比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80560" y="4892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多城市并置展示 / 污染传输关系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4023360"/>
            <a:ext cx="3566160" cy="2286000"/>
          </a:xfrm>
          <a:prstGeom prst="rect">
            <a:avLst/>
          </a:prstGeom>
          <a:solidFill>
            <a:srgbClr val="132F4C"/>
          </a:solidFill>
          <a:ln w="25400">
            <a:solidFill>
              <a:srgbClr val="8E24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4023360"/>
            <a:ext cx="3566160" cy="45720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2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4400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大数据洞察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1040" y="4892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 pipeline 流程图 / 60+ 维特征图谱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界面深色科技风，约 1,400 行代码，完全自适应桌面/平板/手机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工作量自评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743200" cy="13716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137160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3736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24460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模块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13716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54864" cy="13716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3736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6,200+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24460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核心代码行数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743200" cy="13716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54864" cy="13716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37360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46520" y="24460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工程后特征维度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554480"/>
            <a:ext cx="2468880" cy="137160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54480"/>
            <a:ext cx="54864" cy="137160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173736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372600" y="24460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深度学习模块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代码模块清单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0_collect_multi_source_data.py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多源数据采集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data_collector.py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616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数据下载与清洗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feature_engineer.py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6160" y="4663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97680" y="4663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特征工程 + BHI v2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516636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model_trainer.py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66160" y="5166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0" y="5166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个机器学习模型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566928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6_advanced_model_v2.py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66160" y="5669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97680" y="5669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MSTN v2 (核心创新)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365760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7_multi_city_fusion.py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50976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24128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多源数据质量评估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416052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8_ablation_study_v2.py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50976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24128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真·消融实验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0" y="466344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9_comparison_baselines.py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509760" y="4663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241280" y="4663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基线对比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0" y="516636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visualizer.py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509760" y="5166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241280" y="5166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张交互图表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00800" y="5669280"/>
            <a:ext cx="5486400" cy="457200"/>
          </a:xfrm>
          <a:prstGeom prst="rect">
            <a:avLst/>
          </a:prstGeom>
          <a:solidFill>
            <a:srgbClr val="132F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5669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509760" y="5669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1439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241280" y="5669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6 标签页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智能体（AI 助手）使用情况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Usage Disclosure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(Claude Opus 4.x)  </a:t>
            </a:r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官方网页  </a:t>
            </a:r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通过用户协议合法使用，未用于伪造数据/文献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46888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02920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使用的 4 类典型场景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0" y="3108960"/>
            <a:ext cx="6675120" cy="64008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3108960"/>
            <a:ext cx="73152" cy="64008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 bug 诊断  </a:t>
            </a:r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数据泄漏问题、pandas 2.x 兼容修复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3886200"/>
            <a:ext cx="6675120" cy="640080"/>
          </a:xfrm>
          <a:prstGeom prst="rect">
            <a:avLst/>
          </a:prstGeom>
          <a:solidFill>
            <a:srgbClr val="132F4C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0" y="3886200"/>
            <a:ext cx="73152" cy="640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3886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兼容性升级  </a:t>
            </a:r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fillna(method=...) → ffill().bfill()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0" y="4663440"/>
            <a:ext cx="6675120" cy="640080"/>
          </a:xfrm>
          <a:prstGeom prst="rect">
            <a:avLst/>
          </a:prstGeom>
          <a:solidFill>
            <a:srgbClr val="132F4C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0" y="4663440"/>
            <a:ext cx="73152" cy="64008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0" y="4663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可视化样式与 CSS  </a:t>
            </a:r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暗色主题与组件设计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0" y="5440680"/>
            <a:ext cx="6675120" cy="640080"/>
          </a:xfrm>
          <a:prstGeom prst="rect">
            <a:avLst/>
          </a:prstGeom>
          <a:solidFill>
            <a:srgbClr val="132F4C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5440680"/>
            <a:ext cx="73152" cy="64008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5440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报告语言润色  </a:t>
            </a:r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结构性论证 + 学术语言规范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所有 AI 生成内容均经参赛者审核、测试、修改后才纳入作品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 Q&amp;A 预演（高频问题）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你们的「空间卷积」在单城市数据上有什么意义？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v2 已改名为「特征相关注意力」(Feature Correlation Attention)，命名诚实；它捕捉的是不同环境因子（气象、滞后、滚动统计）之间的条件依赖关系。多城市场景下可平滑切换为 GAT。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11247120" cy="109728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072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LightGBM 的 MAE 不是只有 0.56 吗？为什么 MSTN 反而差？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729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v1 中 LightGBM 用了 pm25_lag_1h 这种近邻泄漏特征，等于「用 99 时刻预测 100 时刻」。v2 去除强 lag 特征后，MSTN v2 反超 LightGBM；且在 6h+ 多步预测上 MSTN 优势显著（详见 P15）。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968496"/>
            <a:ext cx="11247120" cy="109728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142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多城市数据是模拟的，怎么解释？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7997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我们诚实声明：当前实验中「天津/石家庄」是基于北京数据按区域差异系数生成的多站点扩展，命名为「北京多站点」更贴切。后续接入 OpenAQ 真实多城市数据是直接的工程任务。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5175504"/>
            <a:ext cx="11247120" cy="1097280"/>
          </a:xfrm>
          <a:prstGeom prst="rect">
            <a:avLst/>
          </a:prstGeom>
          <a:solidFill>
            <a:srgbClr val="132F4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2212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BHI 公式的权重 0.55/0.15/0.30 怎么定的？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869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三个分量分别对应国家标准（GB 3095）、ASHRAE 55、WHO 2021 全球指南；权重通过文献中 PM2.5 浓度对急性呼吸科就诊量的回归系数估计得到。详见报告附录 A。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我们做到了什么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MSTN v2 多尺度时空网络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三尺度因果膨胀+跨尺度注意力，参数量仅 80K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 呼吸健康指数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基于国标+WHO 标准的可解释复合指标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全流程自动化 Pipeline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步流程一键贯通，可复现可迁移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FF525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663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工业级 Web 应用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 行 Streamlit 代码，6 大功能面板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554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未来工作方向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2057400"/>
            <a:ext cx="5486400" cy="11430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560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真实多城市数据接入 OpenAQ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880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扩展 PM10 / O3 / NO2 多任务预测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337560"/>
            <a:ext cx="5486400" cy="114300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接入实时数据流（Kafka）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ONNX/TensorRT 边缘部署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617720"/>
            <a:ext cx="5486400" cy="1143000"/>
          </a:xfrm>
          <a:prstGeom prst="rect">
            <a:avLst/>
          </a:prstGeom>
          <a:solidFill>
            <a:srgbClr val="132F4C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5120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卫星遥感（Sentinel-5P）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5440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城市大气数字孪生系统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把同一套技术栈迁移至水质监测、噪声预测、城市内涝预警等近邻应用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 · 大数据实践赛 · 环境与人类发展大数据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16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 谢 聆 听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274320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开源仓库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github.com/YOUR_REPO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5029200"/>
            <a:ext cx="274320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演示地址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yourname.streamlit.app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5029200"/>
            <a:ext cx="2743200" cy="777240"/>
          </a:xfrm>
          <a:prstGeom prst="rect">
            <a:avLst/>
          </a:prstGeom>
          <a:solidFill>
            <a:srgbClr val="132F4C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联系邮箱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team@your-school.edu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时空呼吸团队  ·  2026.04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时空呼吸 - 大数据驱动的城市空气质量智能预测系统</dc:title>
  <dc:subject>PptxGenJS Presentation</dc:subject>
  <dc:creator>时空呼吸团队</dc:creator>
  <cp:lastModifiedBy>时空呼吸团队</cp:lastModifiedBy>
  <cp:revision>1</cp:revision>
  <dcterms:created xsi:type="dcterms:W3CDTF">2026-04-29T01:43:30Z</dcterms:created>
  <dcterms:modified xsi:type="dcterms:W3CDTF">2026-04-29T01:43:30Z</dcterms:modified>
</cp:coreProperties>
</file>